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Relationship Id="rId5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4" r:id="rId2"/>
    <p:sldId id="305" r:id="rId3"/>
    <p:sldId id="306" r:id="rId4"/>
    <p:sldId id="307" r:id="rId5"/>
    <p:sldId id="308" r:id="rId6"/>
    <p:sldId id="309" r:id="rId7"/>
    <p:sldId id="310" r:id="rId8"/>
    <p:sldId id="311" r:id="rId9"/>
    <p:sldId id="312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327" r:id="rId25"/>
    <p:sldId id="328" r:id="rId26"/>
    <p:sldId id="329" r:id="rId27"/>
    <p:sldId id="330" r:id="rId28"/>
    <p:sldId id="331" r:id="rId29"/>
    <p:sldId id="332" r:id="rId30"/>
    <p:sldId id="333" r:id="rId31"/>
    <p:sldId id="334" r:id="rId32"/>
    <p:sldId id="335" r:id="rId33"/>
    <p:sldId id="336" r:id="rId34"/>
    <p:sldId id="337" r:id="rId35"/>
    <p:sldId id="338" r:id="rId36"/>
    <p:sldId id="339" r:id="rId37"/>
    <p:sldId id="340" r:id="rId3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20" d="100"/>
          <a:sy n="120" d="100"/>
        </p:scale>
        <p:origin x="198" y="10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700"/>
            </a:lvl1pPr>
          </a:lstStyle>
          <a:p>
            <a:fld id="{241EB5C9-1307-BA42-ABA2-0BC069CD8E7F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/>
            </a:lvl1pPr>
          </a:lstStyle>
          <a:p>
            <a:endParaRPr lang="en-US" sz="7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700"/>
            </a:lvl1pPr>
          </a:lstStyle>
          <a:p>
            <a:fld id="{241EB5C9-1307-BA42-ABA2-0BC069CD8E7F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/>
            </a:lvl1pPr>
          </a:lstStyle>
          <a:p>
            <a:endParaRPr lang="en-US" sz="70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4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0" y="2743200"/>
            <a:ext cx="21305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Update (2026-04-12)</a:t>
            </a:r>
          </a:p>
          <a:p>
            <a:pPr algn="ctr">
              <a:defRPr sz="1600">
                <a:solidFill>
                  <a:srgbClr val="BBCCDD"/>
                </a:solidFill>
                <a:latin typeface="Calibri"/>
              </a:defRPr>
            </a:pPr>
            <a:r>
              <a:t>Kenichi Follow-Up  |  Glycolysis Gene-Node Modeling  |  CIBERSORTx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9AA"/>
                </a:solidFill>
                <a:latin typeface="Calibri"/>
              </a:defRPr>
            </a:pPr>
            <a:r>
              <a:t>v4.5.3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Kenichi Follow-Up: Overview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Addressing feedback from 2026-03-27 email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v4.5.3  | 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55778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Point 1: Inflammation Depot Specificity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Is inflammation increased in subcutaneous but NOT visceral?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Opposite to OVX mouse model (visceral inflammation UP)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-&gt; Formal depot x menopause interaction 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5778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Point 2: Baseline Transcriptome Limitation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38988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Cannot conclude SNS activity from baseline data alone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Patterns 'consistent with' chronic drive, not proof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-&gt; CIBERSORTx HiRes in progress for cell-type resolution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377440"/>
            <a:ext cx="55778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4505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Point 3: Aging vs Menopause Confound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6148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Male and female trends parallel in some gene sets (v4.3.0 baseline)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-&gt; Sex-interaction model: score ~ sex + age + sex:age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-&gt; Formal test of female-specific beyond-male-aging effects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77440"/>
            <a:ext cx="55778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24505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Point 4: ADRB2 / Fibrosis / Adipocyte Correlations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76148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ADRB2 negatively correlated with inflammation/fibrosis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Consistent with catecholamine resistance model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-&gt; Deep correlation analysis + human-mouse concordance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840480"/>
            <a:ext cx="11430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Key New Findings: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1. Inflammation: confirmed UP in subcutaneous-post, weaker/non-significant in visceral (depot-specific)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2. Senescence: significantly UP in both depots (subcutaneous p=0.0008, visceral p=0.005)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3. Aging vs menopause: some gene sets show female-specific effects beyond male aging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4. ADRB2 negatively correlated with inflammatory/fibrotic scores in both depots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5. Concordance with OVX mouse: 8/14 comparisons concordant; discordance mainly in visceral inflammation/fibrosis and ADRB2 direction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Inflammation by Depot and Menopause Status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Point 1: Depot-specific inflammatory response (depot x menopause interaction, cytokines: p = 0.003)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v4.5.3  |  3</a:t>
            </a:r>
          </a:p>
        </p:txBody>
      </p:sp>
      <p:pic>
        <p:nvPicPr>
          <p:cNvPr id="4" name="Picture 3" descr="kenichi_inflammation_by_depot_menopa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68580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00584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Interpretation: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Subcutaneous adipose: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Inflammation cytokines: UP in post (p=0.14)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HALLMARK Inflammatory: UP in post (p=0.044)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Senescence: strongly UP (p=0.0008)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Visceral omentum: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Cytokines: DOWN/flat in post (NS)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HALLMARK: weak UP (NS)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Senescence: UP (p=0.005)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Depot discordance with OVX mouse: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Mouse: visceral inflammation UP after OVX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Human: subcutaneous inflammation UP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Possible reasons: depot definition differences,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species-specific immune infiltration,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acute OVX vs chronic menopause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Aging vs Menopause: Sex-Interaction Analysis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Point 3: Is the signal female-specific or generic aging?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v4.5.3  |  4</a:t>
            </a:r>
          </a:p>
        </p:txBody>
      </p:sp>
      <p:pic>
        <p:nvPicPr>
          <p:cNvPr id="4" name="Picture 3" descr="kenichi_aging_vs_menopause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029199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00584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Model: score ~ SMCENTER + sex + age_group + sex:age_group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Interaction term = female-specific effect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beyond parallel male aging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Key results (subcutaneous, 40-49 vs 60-69):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Inflammation: male p=2.4e-4, female p=0.13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-&gt; males show stronger aging effect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Senescence: male p=2.4e-4, female p=0.046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-&gt; both sexes show effect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Lipolysis core: male p=4.0e-4, female p=0.17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-&gt; aging effect present in both sexes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TGF-b/ALK7 axis: male p=0.09, female p=0.66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-&gt; interaction direction female-specific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Conclusion: in this 40-49 vs 60-69 window, aging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trends are largely shared between sexes. Formal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female-specific effects (TGF-b/ALK7, CA-resistance)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appear in the visceral peri-menopausal window.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ADRB2 Correlation Deep Dive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Point 4: Adrenergic receptors vs inflammation, fibrosis, and cell fractions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v4.5.3  |  5</a:t>
            </a:r>
          </a:p>
        </p:txBody>
      </p:sp>
      <p:pic>
        <p:nvPicPr>
          <p:cNvPr id="4" name="Picture 3" descr="kenichi_adrb2_correlatio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486400" cy="5486400"/>
          </a:xfrm>
          <a:prstGeom prst="rect">
            <a:avLst/>
          </a:prstGeom>
        </p:spPr>
      </p:pic>
      <p:pic>
        <p:nvPicPr>
          <p:cNvPr id="5" name="Picture 4" descr="kenichi_adrb2_vs_cibersort_fr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4572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Human-Mouse Concordance: GTEx vs OVX Model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Summary of direction concordance across phenotypes and depots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v4.5.3  | 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11430000" cy="4492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Phenotype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Depot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Mouse OVX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Human GTEx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Significance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Concordance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Inflammation (cytokines)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p=0.138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Inflammation (cytokines)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DISCORDANT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HALLMARK Inflammatory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p=0.0439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HALLMARK Inflammatory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Fibrosis/ECM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p=0.255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Fibrosis/ECM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DISCORDANT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Senescence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p=7.70e-04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Senescence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p=0.0052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ADRB2 expression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female p=0.317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DISCORDANT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ADRB2 expression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female p=0.556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DISCORDANT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Lipolysis core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female p=0.171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Lipolysis 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female p=0.833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Adipocyte fraction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r=0.47 with ADRB2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p=3.76e-14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39C12"/>
                          </a:solidFill>
                          <a:latin typeface="Calibri"/>
                        </a:defRPr>
                      </a:pPr>
                      <a:r>
                        <a:t>see correlation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Adipocyte fraction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r=0.32 with ADRB2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p=1.52e-05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39C12"/>
                          </a:solidFill>
                          <a:latin typeface="Calibri"/>
                        </a:defRPr>
                      </a:pPr>
                      <a:r>
                        <a:t>see correlation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5778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Summary: 8/14 comparisons concordant with OVX model. Discordance concentrated in: (1) visceral inflammation/fibrosis (human subcutaneous &gt; visceral, opposite to mouse); (2) ADRB2 direction (human post-menopause shows slight UP, opposite to mouse DOWN). Lipolysis, senescence, and adipocyte fraction patterns are broadly concordant.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4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0" y="2743200"/>
            <a:ext cx="21305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Glycolysis Gene-Node Analysis</a:t>
            </a:r>
          </a:p>
          <a:p>
            <a:pPr algn="ctr">
              <a:defRPr sz="1600">
                <a:solidFill>
                  <a:srgbClr val="BBCCDD"/>
                </a:solidFill>
                <a:latin typeface="Calibri"/>
              </a:defRPr>
            </a:pPr>
            <a:r>
              <a:t>Individual gene modeling  |  Fraction correlations  |  Effect attenuation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9AA"/>
                </a:solidFill>
                <a:latin typeface="Calibri"/>
              </a:defRPr>
            </a:pPr>
            <a:r>
              <a:t>v4.5.3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Glycolysis Gene-Node Trajectories: Subcutaneous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VST expression by age bin, stratified by sex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v4.5.3  |  8</a:t>
            </a:r>
          </a:p>
        </p:txBody>
      </p:sp>
      <p:pic>
        <p:nvPicPr>
          <p:cNvPr id="4" name="Picture 3" descr="glycolysis_gene_node_trajectories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Glycolysis Gene-Node Trajectories: Visceral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VST expression by age bin, stratified by sex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v4.5.3  |  9</a:t>
            </a:r>
          </a:p>
        </p:txBody>
      </p:sp>
      <p:pic>
        <p:nvPicPr>
          <p:cNvPr id="4" name="Picture 3" descr="glycolysis_gene_node_trajectories_visc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Glycolysis Gene-Node Effects: Post vs Pre (Forest Plots)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Base model vs CIBERSORT-adjusted, key glycolysis genes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v4.5.3  |  10</a:t>
            </a:r>
          </a:p>
        </p:txBody>
      </p:sp>
      <p:pic>
        <p:nvPicPr>
          <p:cNvPr id="4" name="Picture 3" descr="glycolysis_gene_node_forest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669280" cy="4535424"/>
          </a:xfrm>
          <a:prstGeom prst="rect">
            <a:avLst/>
          </a:prstGeom>
        </p:spPr>
      </p:pic>
      <p:pic>
        <p:nvPicPr>
          <p:cNvPr id="5" name="Picture 4" descr="glycolysis_gene_node_forest_visc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05840"/>
            <a:ext cx="5669280" cy="45354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AB"/>
                </a:solidFill>
                <a:latin typeface="Calibri"/>
              </a:defRPr>
            </a:pPr>
            <a:r>
              <a:t>Subcutaneous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AB"/>
                </a:solidFill>
                <a:latin typeface="Calibri"/>
              </a:defRPr>
            </a:pPr>
            <a:r>
              <a:t>Visceral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Glycolysis: Effect Attenuation After Composition Adjustment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Base vs CIBERSORT-adjusted post-vs-pre estimates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v4.5.3  |  11</a:t>
            </a:r>
          </a:p>
        </p:txBody>
      </p:sp>
      <p:pic>
        <p:nvPicPr>
          <p:cNvPr id="4" name="Picture 3" descr="glycolysis_gene_node_effect_attenuation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486400" cy="5486400"/>
          </a:xfrm>
          <a:prstGeom prst="rect">
            <a:avLst/>
          </a:prstGeom>
        </p:spPr>
      </p:pic>
      <p:pic>
        <p:nvPicPr>
          <p:cNvPr id="5" name="Picture 4" descr="glycolysis_gene_node_effect_attenuation_visc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05840"/>
            <a:ext cx="5486400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303520"/>
            <a:ext cx="11612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Interpretation: Points near the diagonal line indicate effects robust to composition adjustment. Points pulled toward zero (x-axis) indicate effects driven by cell-composition shifts rather than cell-intrinsic expression changes. Most glycolysis genes show modest attenuation, suggesting both composition and intrinsic contributions.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Glycolysis Genes vs CIBERSORT Fractions: Correlation Heatmaps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Which cell fractions drive glycolysis gene expression variance?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v4.5.3  |  12</a:t>
            </a:r>
          </a:p>
        </p:txBody>
      </p:sp>
      <p:pic>
        <p:nvPicPr>
          <p:cNvPr id="4" name="Picture 3" descr="glycolysis_fraction_correlation_heatmap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572000" cy="5486400"/>
          </a:xfrm>
          <a:prstGeom prst="rect">
            <a:avLst/>
          </a:prstGeom>
        </p:spPr>
      </p:pic>
      <p:pic>
        <p:nvPicPr>
          <p:cNvPr id="5" name="Picture 4" descr="glycolysis_fraction_correlation_heatmap_visc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05840"/>
            <a:ext cx="4572000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AB"/>
                </a:solidFill>
                <a:latin typeface="Calibri"/>
              </a:defRPr>
            </a:pPr>
            <a:r>
              <a:t>Subcutaneous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AB"/>
                </a:solidFill>
                <a:latin typeface="Calibri"/>
              </a:defRPr>
            </a:pPr>
            <a:r>
              <a:t>Visceral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CIBERSORTx HiRes Pipeline: Status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v4.5.3  |  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CIBERSORTx Pipeline (In Progress)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Docker images: fractions, gep, hires (all installed)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Reference: GSE176171 sc adipose (human WAT)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Input preparation: COMPLETE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Refsample: 2.3 GB (gene symbols x cells)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Mixture subcutaneous: 412 MB (57,852 genes x 714 samples)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Mixture visceral: 338 MB (57,852 genes x 587 samples)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Docker execution: PENDING (token regeneration needed)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6692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1704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Expected Outputs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81328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1. CIBERSORTx Fractions: cell-type proportions (all cell types)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- With S-mode batch correction + 100 permutations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2. CIBERSORTx HiRes: per-sample, per-cell-type expression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- Cell-type-specific expression matrices for each sample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3. Downstream DE on imputed expression: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- Female menopause proxy (pre/peri/post) within each cell type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- Male comparison (hypothesis: males ~ pre-menopausal females)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657600"/>
            <a:ext cx="1143000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7307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Why CIBERSORTx HiRes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41648"/>
            <a:ext cx="11155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Current approach: Bulk DE identifies net expression changes, but cannot distinguish: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(a) Changes in per-cell expression (cell-intrinsic) from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(b) Changes in cell composition (more/fewer of a cell type)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CIBERSORTx HiRes resolves this by imputing sample-level expression for each cell type.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This directly addresses Kenichi's question about 'unexpected directions' in bulk data: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A bulk UP gene could be UP in macrophages but DOWN in adipocytes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Composition adjustment partially addresses this, but HiRes provides the full picture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Cell-type DE will reveal which cell types drive the observed menopause-associated changes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2026-04-12 Update: New Outputs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v4.5.3  | 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Kenichi Follow-Up Analyses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R/next_steps_2026-04-12_kenichi_followup_targeted.R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Tables (6):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kenichi_inflammation_depot_comparison.tsv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kenichi_aging_vs_menopause_interaction.tsv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kenichi_aging_vs_menopause_interaction_40to60_window.tsv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kenichi_adrb2_correlations_detail.tsv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kenichi_adrb2_sex_difference_correlations.tsv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kenichi_human_mouse_concordance.tsv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Figures (4): inflammation depot, trajectories, ADRB2 panels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1704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Glycolysis Gene-Node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481328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R/next_steps_2026-04-12_glycolysis_gene_nodes.R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Tables (6):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glycolysis_gene_node_lm_stats_{subq,visc,ALL}.tsv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glycolysis_fraction_correlations_{subq,visc,ALL}.tsv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Figures (8): trajectories, forest plots,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effect attenuation, fraction correlation heatmaps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(per depot)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65760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7307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CIBERSORTx Pipeline (Pending)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41648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R/next_steps_2026-04-12_prepare_cibersortx_inputs.R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scripts/run_cibersortx_pipeline_2026-04-12.sh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R/next_steps_2026-04-12_cibersortx_hires_de_analysis.R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Inputs prepared (3.1 GB total)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Docker execution pending token refresh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DE analysis script ready for post-Docker execution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65760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37307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Email Draft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041648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docs/reply_to_kenichi_2026-04-12.md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Addresses all 4 of Kenichi's points with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specific data references and analysis results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Ready for review and sending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Snapshot label at email draft time (2026-04-12): v4.4.0 partial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4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CIBERSORTx HiRes: Cell-Type-Resolved Differential Expression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CCDDEE"/>
                </a:solidFill>
                <a:latin typeface="Calibri"/>
              </a:rPr>
              <a:t>Subcutaneous + Visceral  |  14 cell types  |  Female menopause proxy + Male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474720"/>
            <a:ext cx="39593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v4.5.3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CIBERSORTx Pipeline: What Was Done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Reference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GSE176171 single-cell adipose (human WAT)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14 cell types annotated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2544" y="100584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Fractions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Signature matrix built from sc reference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S-mode batch correction, 100 permutations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47888" y="100584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HiRes Imputation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Sample-level cell-type expression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Window=20, 10 threads per job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Differential Expression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limma per cell type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Female: pre/peri/post menopause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Male comparison cohort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292608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Subcutaneous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714 samples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18,359 genes, 14 cell 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47888" y="292608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Visceral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587 samples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18,359 genes, 14 cell types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74552" cy="5029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Pipeline ran on GTEx v10 adipose tissue. HiRes resolves bulk RNA-seq into cell-type-specific expression profiles.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v4.5.3  |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CIBERSORTx HiRes DE: Subcutaneous (Post vs Pre, Females)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45920" y="914400"/>
          <a:ext cx="7406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Cell Type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Genes Tested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DOWN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Total Sig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Adipocyte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9,697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142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221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ASPC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10,487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Macrophage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10,691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SMC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11,558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138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Endothelial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9,464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124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LEC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9,531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8,249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Monocyte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5,234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Mesothelium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6,514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NK cell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5,487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Dendritic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6,804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Mast cell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2,383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1,080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Pericyte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4,604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5577840"/>
            <a:ext cx="11274552" cy="6400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Adipocyte shows asymmetric DOWN (142 vs 79 UP), suggesting cell-intrinsic downregulation after menopause. ASPC and T cell show strong UP bias.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v4.5.3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CIBERSORTx HiRes DE: Visceral (Post vs Pre, Females)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45920" y="914400"/>
          <a:ext cx="7406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Cell Type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Genes Tested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DOWN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Total Sig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Endothelial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11,337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141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Macrophage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10,663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Adipocyte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9,726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115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Mesothelium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12,361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8,842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109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SMC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10,761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ASPC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10,100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LEC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8,807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Monocyte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3,712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Mast cell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1,898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NK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3,581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Pericyte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2,911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Dendritic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1,846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 cell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4,505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5577840"/>
            <a:ext cx="11274552" cy="6400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Endothelial becomes the top DE cell type in visceral. Macrophage consistent across depots. Mast cell shows striking DOWN-only pattern (3 up, 26 down).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v4.5.3  |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Adipocyte: Post vs Pre Menopause (HiRes-Resolved)</a:t>
            </a:r>
          </a:p>
        </p:txBody>
      </p:sp>
      <p:pic>
        <p:nvPicPr>
          <p:cNvPr id="3" name="Picture 2" descr="Volcano_subcutaneous_adipocyte_post_vs_pre_fem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303520" cy="4572000"/>
          </a:xfrm>
          <a:prstGeom prst="rect">
            <a:avLst/>
          </a:prstGeom>
        </p:spPr>
      </p:pic>
      <p:pic>
        <p:nvPicPr>
          <p:cNvPr id="4" name="Picture 3" descr="Volcano_visceral_adipocyte_post_vs_pre_fem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05840"/>
            <a:ext cx="530352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Subcutaneous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Visceral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v4.5.3  |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Macrophage: Post vs Pre Menopause (HiRes-Resolved)</a:t>
            </a:r>
          </a:p>
        </p:txBody>
      </p:sp>
      <p:pic>
        <p:nvPicPr>
          <p:cNvPr id="3" name="Picture 2" descr="Volcano_subcutaneous_macrophage_post_vs_pre_fem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303520" cy="4572000"/>
          </a:xfrm>
          <a:prstGeom prst="rect">
            <a:avLst/>
          </a:prstGeom>
        </p:spPr>
      </p:pic>
      <p:pic>
        <p:nvPicPr>
          <p:cNvPr id="4" name="Picture 3" descr="Volcano_visceral_macrophage_post_vs_pre_fem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05840"/>
            <a:ext cx="530352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Subcutaneous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Visceral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v4.5.3  |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ASPC &amp; Endothelial: Post vs Pre (Subcutaneous, HiRes)</a:t>
            </a:r>
          </a:p>
        </p:txBody>
      </p:sp>
      <p:pic>
        <p:nvPicPr>
          <p:cNvPr id="3" name="Picture 2" descr="Volcano_subcutaneous_aspc_post_vs_pre_fem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303520" cy="4572000"/>
          </a:xfrm>
          <a:prstGeom prst="rect">
            <a:avLst/>
          </a:prstGeom>
        </p:spPr>
      </p:pic>
      <p:pic>
        <p:nvPicPr>
          <p:cNvPr id="4" name="Picture 3" descr="Volcano_subcutaneous_endothelial_post_vs_pre_fem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05840"/>
            <a:ext cx="530352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ASPC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Endothelial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v4.5.3  |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Cell-Type-Specific Expression of Key Genes (Subcutaneous)</a:t>
            </a:r>
          </a:p>
        </p:txBody>
      </p:sp>
      <p:pic>
        <p:nvPicPr>
          <p:cNvPr id="3" name="Picture 2" descr="BoxViolin_subcutaneous_adipocyte_LEP_menopa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3474720" cy="2468880"/>
          </a:xfrm>
          <a:prstGeom prst="rect">
            <a:avLst/>
          </a:prstGeom>
        </p:spPr>
      </p:pic>
      <p:pic>
        <p:nvPicPr>
          <p:cNvPr id="4" name="Picture 3" descr="BoxViolin_subcutaneous_adipocyte_ADIPOQ_menopa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005840"/>
            <a:ext cx="3474720" cy="2468880"/>
          </a:xfrm>
          <a:prstGeom prst="rect">
            <a:avLst/>
          </a:prstGeom>
        </p:spPr>
      </p:pic>
      <p:pic>
        <p:nvPicPr>
          <p:cNvPr id="5" name="Picture 4" descr="BoxViolin_subcutaneous_macrophage_CD68_menopau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005840"/>
            <a:ext cx="3474720" cy="2468880"/>
          </a:xfrm>
          <a:prstGeom prst="rect">
            <a:avLst/>
          </a:prstGeom>
        </p:spPr>
      </p:pic>
      <p:pic>
        <p:nvPicPr>
          <p:cNvPr id="6" name="Picture 5" descr="BoxViolin_subcutaneous_monocyte_IL6_menopau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657600"/>
            <a:ext cx="3474720" cy="2468880"/>
          </a:xfrm>
          <a:prstGeom prst="rect">
            <a:avLst/>
          </a:prstGeom>
        </p:spPr>
      </p:pic>
      <p:pic>
        <p:nvPicPr>
          <p:cNvPr id="7" name="Picture 6" descr="BoxViolin_subcutaneous_adipocyte_ESR1_meno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3657600"/>
            <a:ext cx="3474720" cy="2468880"/>
          </a:xfrm>
          <a:prstGeom prst="rect">
            <a:avLst/>
          </a:prstGeom>
        </p:spPr>
      </p:pic>
      <p:pic>
        <p:nvPicPr>
          <p:cNvPr id="8" name="Picture 7" descr="BoxViolin_subcutaneous_smc_ESR1_menopa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3657600"/>
            <a:ext cx="3474720" cy="24688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v4.5.3  |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4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61031" y="1828800"/>
            <a:ext cx="7666907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</a:rPr>
              <a:t>Follow-up on Kenichi’s </a:t>
            </a:r>
            <a:br>
              <a:rPr lang="en-US" sz="4000" b="1" dirty="0">
                <a:solidFill>
                  <a:srgbClr val="FFFFFF"/>
                </a:solidFill>
                <a:latin typeface="Calibri"/>
              </a:rPr>
            </a:br>
            <a:r>
              <a:rPr lang="en-US" sz="4000" b="1" dirty="0">
                <a:solidFill>
                  <a:srgbClr val="FFFFFF"/>
                </a:solidFill>
                <a:latin typeface="Calibri"/>
              </a:rPr>
              <a:t>catecholamine results </a:t>
            </a:r>
            <a:r>
              <a:rPr sz="4000" b="1" dirty="0">
                <a:solidFill>
                  <a:srgbClr val="FFFFFF"/>
                </a:solidFill>
                <a:latin typeface="Calibri"/>
              </a:rPr>
              <a:t>(2026-04-21)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127" y="3657600"/>
            <a:ext cx="101126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dirty="0">
                <a:solidFill>
                  <a:srgbClr val="CCDDEE"/>
                </a:solidFill>
                <a:latin typeface="Calibri"/>
              </a:rPr>
              <a:t>Catecholamine resistance in OVX - age-stratified ADRB2 analyses, sex-specific decline, Saltiel Fig 8-style panels, and cross-species concordance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v4.5.3  |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Recap: your OVX 042126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74552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What you showed and why it matters for our human GTEx analysis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Slide 1: Adrb3 is DOWN in both pWAT (visceral) and iWAT (subcutaneous); Adrb1 also DOWN in iWAT (visible in figure panels; gene name not in Slide 1 text labels).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The reduction is MORE PRONOUNCED in iWAT.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Slide 2: inflammation, fibrosis, senescence markers are UP in OVX pWAT (similar in iWAT, not shown).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Hypothesis: estrogen deficiency -&gt; chronic SNS activity -&gt; catecholamine resistance (reduced beta-AR signaling).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Context: Prog Lipid Res 2009 - in human adipose, ADRB1 AND ADRB2 (not ADRB3) are the primary lipolytic beta-AR subtypes.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Therefore, for the human translational comparison, ADRB1 and ADRB2 are the most physiologically relevant targets.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931920"/>
            <a:ext cx="11274552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Your four questions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Q1 - Is ADRB2 - inflammation/fibrosis/senescence negative correlation STRONGER in older women vs younger women?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Q2 - Is ADRB2 reduced in subcutaneous older women, and is the reduction more pronounced in women than men?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Q3 - Reproduce Saltiel Fig 8-style scatter: ADRB2 vs age, CCL2, fibrosis, senescence in women.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Q4 - Suggest best visualization.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v4.5.3  |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Q1: ADRB2 correlations in females - 20-49 vs 50-79 (forest plot)</a:t>
            </a:r>
          </a:p>
        </p:txBody>
      </p:sp>
      <p:pic>
        <p:nvPicPr>
          <p:cNvPr id="3" name="Picture 2" descr="adrb2_age_stratified_forest_fem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60120"/>
            <a:ext cx="8621485" cy="5486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5852160"/>
            <a:ext cx="1069848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Points = Pearson r, bars = 95% CI (Fisher-z). Dashed line at r=0. Fisher-z tests for young vs older female correlation magnitudes are all non-significant at a=0.05 (min p=0.062 for visceral TGFb/ALK7 axis, where older females show a STRONGER POSITIVE correlation - opposite direction to catecholamine-resistance hypothesis).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v4.5.3  |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Q1: Fisher-z comparison (older vs younger females) - top gene sets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10515600" cy="4242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Depot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 young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 young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 older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 older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Delta r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Fisher p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Older more -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inflammation cytokines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-0.258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-0.237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+0.021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0.871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fibrosis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-0.379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-0.433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-0.054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0.647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senescence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-0.315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+0.060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0.644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lipolysis core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+0.595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+0.574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-0.020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0.827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-0.410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-0.245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+0.165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0.189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IL6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-0.204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-0.106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+0.098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0.475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TNF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-0.177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-0.177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0.999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COL1A1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-0.523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-0.512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+0.011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0.917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TGFB1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-0.237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-0.381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-0.144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0.258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inflammation cytokines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+0.028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+0.119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+0.091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0.554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-0.196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-0.199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0.983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+0.029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-0.035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0.822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lipolysis core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+0.320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+0.514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+0.193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0.128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+0.093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+0.102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IL6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-0.026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+0.100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+0.127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0.412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TNF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+0.047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0.725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COL1A1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-0.279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-0.364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-0.085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0.542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TGFB1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-0.222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-0.043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+0.179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0.239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274320" y="5760720"/>
            <a:ext cx="11612880" cy="685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Net result: no formal evidence that the ADRB2-inflammation/fibrosis negative correlation is STRONGER in older women vs younger women. In subcutaneous, fibrosis shows slight strengthening with age (Delta r = -0.05, NS); CCL2 shows the opposite (Delta r = +0.16, NS).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v4.5.3  |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Q2: Beta-AR expression by age and sex (both depots)</a:t>
            </a:r>
          </a:p>
        </p:txBody>
      </p:sp>
      <p:pic>
        <p:nvPicPr>
          <p:cNvPr id="3" name="Picture 2" descr="adrb2_age_trend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960120"/>
            <a:ext cx="6096000" cy="5486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188720" y="5852160"/>
            <a:ext cx="978408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Mean VST +/- 95% CI per (age bin x sex x depot). All three receptors decline with age in subcutaneous; ADRB3 declines in both depots.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v4.5.3  |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Q2: Sex x age interaction - is female decline larger than male?</a:t>
            </a:r>
          </a:p>
        </p:txBody>
      </p:sp>
      <p:pic>
        <p:nvPicPr>
          <p:cNvPr id="3" name="Picture 2" descr="adrb2_sex_age_interaction_estim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6400800" cy="32004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0" y="1097280"/>
          <a:ext cx="475488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Depot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Rcpt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Slope/yr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ADRA2A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-0.0102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0.00805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ADRA2A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-0.0048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0.0598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0.228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-0.0144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0.000624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-0.0084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0.064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-0.0103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-0.0134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0.00226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-0.0173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7.5e-09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ADRA2A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-0.0100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0.122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ADRA2A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-0.0189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2.2e-05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-0.0070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0.246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-0.0040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0.366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+0.0048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0.304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-0.0016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0.647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-0.0208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0.00276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-0.0109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0.00799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715000"/>
            <a:ext cx="11274552" cy="7315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ADRB2 subcutaneous: male slope = -0.0103 (p=0.002), female slope = -0.0084 (p=0.064, borderline within-female); pooled sex*age interaction p = 0.94 - NO significant sex difference in ADRB2 decline. ADRB3 visceral: female -0.0208 vs male -0.0109, interaction p = 0.19 (directionally matches OVX pWAT but NS).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v4.5.3  |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Q3: Saltiel Fig 8-style panel - FEMALE, subcutaneous (primary)</a:t>
            </a:r>
          </a:p>
        </p:txBody>
      </p:sp>
      <p:pic>
        <p:nvPicPr>
          <p:cNvPr id="3" name="Picture 2" descr="saltiel_adrb2_scatters_female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0120"/>
            <a:ext cx="6858000" cy="5486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5852160"/>
            <a:ext cx="1033272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ADRB2 vs fibrosis: R^2 = 0.17, p = 3.3e-11 (strongest panel). ADRB2 vs CCL2: R^2 = 0.09, p = 3.0e-6. ADRB2 vs senescence: R^2 = 0.076, p = 2.0e-5. ADRB2 vs age: R^2 = 0.021, p = 0.029 (weak but significant).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v4.5.3  |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Q3: Saltiel-style panel - FEMALE, visceral (supplementary)</a:t>
            </a:r>
          </a:p>
        </p:txBody>
      </p:sp>
      <p:pic>
        <p:nvPicPr>
          <p:cNvPr id="3" name="Picture 2" descr="saltiel_adrb2_scatters_female_visc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0120"/>
            <a:ext cx="6858000" cy="5486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5852160"/>
            <a:ext cx="1033272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Female visceral: weaker ADRB2 relationships overall. Only fibrosis reaches significance (R^2 = 0.04, p = 7.6e-3). Depot-specific attenuation consistent with 2026-04-12 analysis.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v4.5.3  |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Q3: Saltiel-style panel - MALE, subcutaneous (sex-comparison)</a:t>
            </a:r>
          </a:p>
        </p:txBody>
      </p:sp>
      <p:pic>
        <p:nvPicPr>
          <p:cNvPr id="3" name="Picture 2" descr="saltiel_adrb2_scatters_male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0120"/>
            <a:ext cx="6858000" cy="5486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5852160"/>
            <a:ext cx="1033272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Male subcutaneous (n=481) shows the same directional relationships as females, with higher power. ADRB2 vs fibrosis: R^2 = 0.21, p = 4.5e-26. Demonstrates that the ADRB2 axis is NOT female-specific - robust in both sexes.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v4.5.3  |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Q3: Saltiel-style panel - MALE, visceral (sex-comparison)</a:t>
            </a:r>
          </a:p>
        </p:txBody>
      </p:sp>
      <p:pic>
        <p:nvPicPr>
          <p:cNvPr id="3" name="Picture 2" descr="saltiel_adrb2_scatters_male_visc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0120"/>
            <a:ext cx="6858000" cy="5486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5852160"/>
            <a:ext cx="1033272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Male visceral: fibrosis relationship holds (R^2 = 0.04, p = 5.0e-5). CCL2 shows a weak POSITIVE relationship (R^2 = 0.014, p = 0.017) - opposite direction to subcutaneous, consistent with the depot-specific reversal noted on 2026-04-12. Age and senescence are not significant.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v4.5.3  | 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Q3: Saltiel-style regression stats - all panels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097280"/>
          <a:ext cx="941832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Sex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Depot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Phenotype (y)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Slope vs ADRB2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R^2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p-value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age_mid_num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233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-2.107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0.021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0.0288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233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-0.599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0.090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3.0e-06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233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-0.235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0.174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3.3e-11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233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-0.207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0.076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2.0e-05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age_mid_num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+1.021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0.403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+0.110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0.568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0.039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0.00762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+0.019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0.732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age_mid_num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481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-1.918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0.019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0.00236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481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-0.475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0.084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8.6e-11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481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-0.224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0.208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4.5e-26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481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-0.244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0.107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1.7e-13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age_mid_num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407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-0.709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0.317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407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+0.256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0.014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0.0175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407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-0.095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0.040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5.0e-05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407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0.866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1371600" y="5760720"/>
            <a:ext cx="9418320" cy="6400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Strongest effects: ADRB2 vs fibrosis in MALE subcutaneous (R^2=0.21) and FEMALE subcutaneous (R^2=0.17). Visceral relationships consistently weaker in both sexes.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v4.5.3  | 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Cross-species concordance: OVX 042126 vs human GTEx</a:t>
            </a:r>
          </a:p>
        </p:txBody>
      </p:sp>
      <p:pic>
        <p:nvPicPr>
          <p:cNvPr id="3" name="Picture 2" descr="concordance_heatmap_with_ovx_0421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960120"/>
            <a:ext cx="6675120" cy="5191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5760720"/>
            <a:ext cx="11274552" cy="685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Concordant (human p&lt;0.05): ADRB3 DOWN in both pWAT/iWAT (both species); Senescence UP in pWAT/visceral. Concordant (human NS): ADRB1 iWAT (direction match, p=0.228). Discordant (human NS only): inflammation/fibrosis DOWN-trend in human visceral (p=0.13, p=0.69) vs UP in OVX pWAT. Indeterminate (OVX iWAT not shown): inflammation/fibrosis/senescence iWAT/subq; ADRB1 pWAT; ADRB2 both depots.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v4.5.3  | 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Concordance table - OVX 042126 observations vs human GTEx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116128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Phenotype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Mouse depot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Human depot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OVX direction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Human direction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Human stat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Concordance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ADRB3 expression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with age (female)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p=0.00276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CONCORDANT</a:t>
                      </a:r>
                    </a:p>
                  </a:txBody>
                  <a:tcPr marL="45720" marR="45720" marT="18288" marB="18288" anchor="ctr">
                    <a:solidFill>
                      <a:srgbClr val="74C4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ADRB3 expression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with age (female)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p=0.00226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CONCORDANT</a:t>
                      </a:r>
                    </a:p>
                  </a:txBody>
                  <a:tcPr marL="45720" marR="45720" marT="18288" marB="18288" anchor="ctr">
                    <a:solidFill>
                      <a:srgbClr val="74C4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ADRB1 expression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with age (female)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p=0.228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Calibri"/>
                        </a:rPr>
                        <a:t>CONCORDANT (NS)</a:t>
                      </a:r>
                    </a:p>
                  </a:txBody>
                  <a:tcPr marL="45720" marR="45720" marT="18288" marB="18288" anchor="ctr">
                    <a:solidFill>
                      <a:srgbClr val="D9F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ADRB1 expression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not shown / unchanged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with age (female)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p=0.246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ADRB2 expression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not explicitly shown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with age (female)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p=0.304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ADRB2 expression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not explicitly shown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with age (female)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p=0.064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Inflammation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in post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p=0.131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Calibri"/>
                        </a:rPr>
                        <a:t>DISCORDANT (NS)</a:t>
                      </a:r>
                    </a:p>
                  </a:txBody>
                  <a:tcPr marL="45720" marR="45720" marT="18288" marB="18288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Inflammation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(similar, not shown)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in post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p=0.138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in post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p=0.687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Calibri"/>
                        </a:rPr>
                        <a:t>DISCORDANT (NS)</a:t>
                      </a:r>
                    </a:p>
                  </a:txBody>
                  <a:tcPr marL="45720" marR="45720" marT="18288" marB="18288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Fibrosis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(similar, not shown)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in post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p=0.255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Senescence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in post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p=0.00523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CONCORDANT</a:t>
                      </a:r>
                    </a:p>
                  </a:txBody>
                  <a:tcPr marL="45720" marR="45720" marT="18288" marB="18288" anchor="ctr">
                    <a:solidFill>
                      <a:srgbClr val="74C4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(similar, not shown)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in post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p=0.00077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v4.5.3  | 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Interpretation and manuscript framing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7455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What we can conclude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ADRB3 declines with age in both depots in women AND men (p&lt;0.05 in both sexes; CONCORDANT with OVX). Not female-specific.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OVX 'iWAT&gt;pWAT' asymmetry reproduces in HUMAN MALES (ADRB3 subq -0.017 vs visc -0.011) but REVERSES in FEMALES (subq -0.013 vs visc -0.021).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ADRB2 declines with age in subcutaneous (males p=0.002; females p=0.064, borderline NS); pooled sex*age interaction NS (p=0.94). Visceral ADRB2-age slope is directionally POSITIVE in females (NS), opposite to catecholamine-resistance prediction.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ADRB2 x fibrosis correlation robust in subcutaneous (female R^2=0.17; male R^2=0.21). Weak in visceral.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Prog Lipid Res 2009: ADRB1 and ADRB2 (not ADRB3) are the primary lipolytic beta-ARs in human adipose - the translational analog of OVX Adrb3 in humans is ADRB1 + ADRB2 combined.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Visceral inflammation/fibrosis 'discordance' is direction-only (both human p&gt;0.13); should NOT be framed as genuine cross-species divergence.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iWAT inflammation/fibrosis/senescence are INDETERMINATE (not concordant) because Kenichi's Slide 2 only shows pWAT mouse data; iWAT was noted as 'similar' but not measured.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4389120"/>
            <a:ext cx="1127455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Visualization recommendations (Q4)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PRIMARY figure for manuscript: female subcutaneous Saltiel-style panel (R^2 up to 0.17).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COMPANION: male subcutaneous Saltiel-style panel to show sex-agnostic robustness.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RECEPTOR-DECLINE figure: beta-AR age trend by sex (Q2 figure).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CONCORDANCE figure: heatmap for discussion section.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Depot-comparison figure (from 2026-04-12): retain to document visceral/subcutaneous divergence.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v4.5.3  | 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Caveats and proposed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74552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Caveats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GTEx age is binned (10-yr increments); using bin midpoints attenuates absolute slope estimates (p-values remain valid).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Female sample sizes in narrow age windows are modest (e.g., subq 40-49: n=43; 50-59: n=76; visc peri 40-49/50-59: n=36/n=54).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Baseline GTEx does not capture acute hormonal withdrawal - steady-state may differ from acute OVX.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CIBERSORTx HiRes (14 cell types) from 2026-04-12 not yet applied to ADRB2 correlations - next step.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OVX 042126 does not show ADRB2 - adding it would complete the translational bridge.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840480"/>
            <a:ext cx="1127455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Proposed next steps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Finalize figures with Female SubQ Saltiel-style as primary.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Cell-type-resolved ADRB2 analysis using CIBERSORTx HiRes (adipocyte-specific expression).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Joint figure combining OVX mouse panels with human concordance for manuscript introduction/discussion.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Add mouse ADRB2 if available to resolve Indeterminate rows in concordance 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v4.5.3  |  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80ca090-da8c-4360-a3bc-148c3bd51ef5}" enabled="1" method="Standard" siteId="{ec37a091-b9a6-47e5-98d0-903d4a41920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4112</Words>
  <Application>Microsoft Office PowerPoint</Application>
  <PresentationFormat>Custom</PresentationFormat>
  <Paragraphs>1005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Junguk Hur</dc:creator>
  <cp:keywords/>
  <cp:lastModifiedBy>Hur, Junguk</cp:lastModifiedBy>
  <cp:revision>12</cp:revision>
  <dcterms:created xsi:type="dcterms:W3CDTF">2026-02-02T05:20:11Z</dcterms:created>
  <dcterms:modified xsi:type="dcterms:W3CDTF">2026-04-23T20:08:24Z</dcterms:modified>
</cp:coreProperties>
</file>