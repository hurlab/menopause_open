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41" r:id="rId43"/>
    <p:sldId id="307" r:id="rId5"/>
    <p:sldId id="308" r:id="rId6"/>
    <p:sldId id="342" r:id="rId44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43" r:id="rId45"/>
    <p:sldId id="344" r:id="rId46"/>
    <p:sldId id="329" r:id="rId27"/>
    <p:sldId id="345" r:id="rId47"/>
    <p:sldId id="330" r:id="rId28"/>
    <p:sldId id="331" r:id="rId29"/>
    <p:sldId id="332" r:id="rId30"/>
    <p:sldId id="346" r:id="rId48"/>
    <p:sldId id="333" r:id="rId31"/>
    <p:sldId id="347" r:id="rId49"/>
    <p:sldId id="334" r:id="rId32"/>
    <p:sldId id="348" r:id="rId50"/>
    <p:sldId id="335" r:id="rId33"/>
    <p:sldId id="349" r:id="rId51"/>
    <p:sldId id="336" r:id="rId34"/>
    <p:sldId id="350" r:id="rId52"/>
    <p:sldId id="337" r:id="rId35"/>
    <p:sldId id="338" r:id="rId36"/>
    <p:sldId id="339" r:id="rId37"/>
    <p:sldId id="351" r:id="rId53"/>
    <p:sldId id="352" r:id="rId54"/>
    <p:sldId id="353" r:id="rId55"/>
    <p:sldId id="340" r:id="rId3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Update (2026-04-12)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Kenichi Follow-Up  |  Glycolysis Gene-Node Modeling  |  CIBERSORTx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v4.5.4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Kenichi Follow-Up: Overview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Addressing feedback from 2026-03-27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1: Inflammation Depot 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Is inflammation increased in subcutaneous but NOT visceral?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Opposite to OVX mouse model (visceral inflammation UP)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depot x menopause interaction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2: Baseline Transcriptome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Cannot conclude SNS activity from baseline data alone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Patterns 'consistent with' chronic drive, not proof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CIBERSORTx HiRes in progress for cell-type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3: Aging vs Menopause Confound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Male and female trends parallel in some gene sets (v4.3.0 baseline)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Sex-interaction model: score ~ sex + age + sex:age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test of female-specific beyond-male-aging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4: ADRB2 / Fibrosis / Adipocyte 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ADRB2 negatively correlated with inflammation/fibrosis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Consistent with catecholamine resistance model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Deep correlation analysis + human-mouse concordance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Key New Findings: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1. Inflammation: confirmed UP in subcutaneous-post, weaker/non-significant in visceral (depot-specific)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2. Senescence: significantly UP in both depots (subcutaneous p=0.0008, visceral p=0.005)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3. Aging vs menopause: some gene sets show female-specific effects beyond male aging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4. ADRB2 negatively correlated with inflammatory/fibrotic scores in both depots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5. Concordance with OVX mouse: 8/14 comparisons concordant; discordance mainly in visceral inflammation/fibrosis and ADRB2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Inflammation by Depot and Menopause Status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1: Depot-specific inflammatory response (depot x menopause interaction, cytokines: p = 0.003)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3</a:t>
            </a:r>
          </a:p>
        </p:txBody>
      </p:sp>
      <p:pic>
        <p:nvPicPr>
          <p:cNvPr id="4" name="Picture 3" descr="kenichi_inflammation_by_depot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Subcutaneous adipose: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Inflammation cytokines: UP in post (p=0.14)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 Inflammatory: UP in post (p=0.044)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strongly UP (p=0.0008)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Visceral omentum: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Cytokines: DOWN/flat in post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HALLMARK: weak UP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UP (p=0.005)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Depot discordance with OVX mouse: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Mouse: visceral inflammation UP after OVX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Human: subcutaneous inflammation 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Possible reasons: depot definition differences,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species-specific immune infiltration,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acute OVX vs chronic menopause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Aging vs Menopause: Sex-Interaction Analysis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3: Is the signal female-specific or generic aging?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5</a:t>
            </a:r>
          </a:p>
        </p:txBody>
      </p:sp>
      <p:pic>
        <p:nvPicPr>
          <p:cNvPr id="4" name="Picture 3" descr="kenichi_aging_vs_menopause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029199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Model: score ~ SMCENTER + sex + age_group + sex:age_group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Interaction term = female-specific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beyond parallel male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Key results (subcutaneous, 40-49 vs 60-69):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Inflammation: male p=2.4e-4, female p=0.13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males show stronger aging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Senescence: male p=2.4e-4, female p=0.046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both sexes show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Lipolysis core: male p=4.0e-4, female p=0.17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aging effect present in both sexes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TGF-b/ALK7 axis: male p=0.09, female p=0.66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interaction direction female-specific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Conclusion: in this 40-49 vs 60-69 window,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trends are largely shared between sexes. Formal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female-specific effects (TGF-b/ALK7, CA-resistance)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appear in the visceral peri-menopausal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ADRB2 Correlation Deep Dive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4: Adrenergic receptors vs inflammation, fibrosis, and cell fractions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6</a:t>
            </a:r>
          </a:p>
        </p:txBody>
      </p:sp>
      <p:pic>
        <p:nvPicPr>
          <p:cNvPr id="4" name="Picture 3" descr="kenichi_adrb2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kenichi_adrb2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Human-Mouse Concordance: GTEx vs OVX Model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Summary of direction concordance across phenotypes and depots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49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Phenotype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Mouse OVX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GTEx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Concordance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p=0.0439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p=0.255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p=7.70e-04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p=0.317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p=0.171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r=0.47 with ADRB2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p=3.76e-14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r=0.32 with ADRB2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p=1.52e-05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Summary: 8/14 comparisons concordant with OVX model. Discordance concentrated in: (1) visceral inflammation/fibrosis (human subcutaneous &gt; visceral, opposite to mouse); (2) ADRB2 direction (human post-menopause shows slight UP, opposite to mouse DOWN). Lipolysis, senescence, and adipocyte fraction patterns are broadly concordant.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Glycolysis Gene-Node Analysis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Individual gene modeling  |  Fraction correlations  |  Effect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v4.5.4  |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Subcutaneous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10</a:t>
            </a:r>
          </a:p>
        </p:txBody>
      </p:sp>
      <p:pic>
        <p:nvPicPr>
          <p:cNvPr id="4" name="Picture 3" descr="glycolysis_gene_node_trajectories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Visceral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11</a:t>
            </a:r>
          </a:p>
        </p:txBody>
      </p:sp>
      <p:pic>
        <p:nvPicPr>
          <p:cNvPr id="4" name="Picture 3" descr="glycolysis_gene_node_trajectories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Effects: Post vs Pre (Forest Plots)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model vs CIBERSORT-adjusted, key glycolysis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12</a:t>
            </a:r>
          </a:p>
        </p:txBody>
      </p:sp>
      <p:pic>
        <p:nvPicPr>
          <p:cNvPr id="4" name="Picture 3" descr="glycolysis_gene_node_forest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4535424"/>
          </a:xfrm>
          <a:prstGeom prst="rect">
            <a:avLst/>
          </a:prstGeom>
        </p:spPr>
      </p:pic>
      <p:pic>
        <p:nvPicPr>
          <p:cNvPr id="5" name="Picture 4" descr="glycolysis_gene_node_forest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Glycolysis: Effect Attenuation After Composition Adjustment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vs CIBERSORT-adjusted post-vs-pre 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13</a:t>
            </a:r>
          </a:p>
        </p:txBody>
      </p:sp>
      <p:pic>
        <p:nvPicPr>
          <p:cNvPr id="4" name="Picture 3" descr="glycolysis_gene_node_effect_attenuation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glycolysis_gene_node_effect_attenuation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11612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 Points near the diagonal line indicate effects robust to composition adjustment. Points pulled toward zero (x-axis) indicate effects driven by cell-composition shifts rather than cell-intrinsic expression changes. Most glycolysis genes show modest attenuation, suggesting both composition and intrinsic contributions.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Genes vs CIBERSORT Fractions: Correlation Heatmaps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Which cell fractions drive glycolysis gene expression variance?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14</a:t>
            </a:r>
          </a:p>
        </p:txBody>
      </p:sp>
      <p:pic>
        <p:nvPicPr>
          <p:cNvPr id="4" name="Picture 3" descr="glycolysis_fraction_correlation_heatmap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572000" cy="5486400"/>
          </a:xfrm>
          <a:prstGeom prst="rect">
            <a:avLst/>
          </a:prstGeom>
        </p:spPr>
      </p:pic>
      <p:pic>
        <p:nvPicPr>
          <p:cNvPr id="5" name="Picture 4" descr="glycolysis_fraction_correlation_heatmap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45720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CIBERSORTx HiRes Pipeline: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(In Progress)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images: fractions, gep, hires (all installed)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Reference: GSE176171 sc adipose (human WAT)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 preparation: COMPLETE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Refsample: 2.3 GB (gene symbols x cells)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subcutaneous: 412 MB (57,852 genes x 714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visceral: 338 MB (57,852 genes x 587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execution: PENDING (token regeneration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1. CIBERSORTx Fractions: cell-type proportions (all cell types)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With S-mode batch correction + 100 permutations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2. CIBERSORTx HiRes: per-sample, per-cell-type expression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Cell-type-specific expression matrices for each sample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3. Downstream DE on imputed expression: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Female menopause proxy (pre/peri/post) within each cell type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Male comparison (hypothesis: males ~ pre-menopausal females)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Why CIBERSORTx HiRes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Current approach: Bulk DE identifies net expression changes, but cannot distinguish: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(a) Changes in per-cell expression (cell-intrinsic) from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(b) Changes in cell composition (more/fewer of a cell type)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CIBERSORTx HiRes resolves this by imputing sample-level expression for each cell type.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This directly addresses Kenichi's question about 'unexpected directions' in bulk data: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A bulk UP gene could be UP in macrophages but DOWN in adipocytes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Composition adjustment partially addresses this, but HiRes provides the full picture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Cell-type DE will reveal which cell types drive the observed menopause-associated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2026-04-12 Update: New Outputs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v4.5.4  | 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Kenichi Follow-Up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R/next_steps_2026-04-12_kenichi_followup_targeted.R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kenichi_inflammation_depot_comparison.tsv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kenichi_aging_vs_menopause_interaction_40to60_window.tsv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kenichi_adrb2_correlations_detail.tsv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kenichi_adrb2_sex_difference_correlations.tsv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kenichi_human_mouse_concordance.tsv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(4): inflammation depot, trajectories, ADRB2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Glycolysis Gene-Node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R/next_steps_2026-04-12_glycolysis_gene_nodes.R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glycolysis_gene_node_lm_stats_{subq,visc,ALL}.tsv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glycolysis_fraction_correlations_{subq,visc,ALL}.tsv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(8): trajectories, forest plots,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effect attenuation, fraction correlation heatmaps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(per depot)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(Pending)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R/next_steps_2026-04-12_prepare_cibersortx_inputs.R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scripts/run_cibersortx_pipeline_2026-04-12.sh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R/next_steps_2026-04-12_cibersortx_hires_de_analysis.R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Inputs prepared (3.1 GB total)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 pending token refresh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 analysis script ready for post-Docker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Email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docs/reply_to_kenichi_2026-04-12.md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Addresses all 4 of Kenichi's points with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specific data references and analysis results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Ready for review and sending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Snapshot label at email draft time (2026-04-12): v4.4.0 partial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CIBERSORTx HiRes: Cell-Type-Resolved Differential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CDDEE"/>
                </a:solidFill>
                <a:latin typeface="Calibri"/>
              </a:rPr>
              <a:t>Subcutaneous + Visceral  |  14 cell types  |  Female menopause proxy + Male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Pipeline: What Was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GSE176171 single-cell adipose (human WAT)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14 cell types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Fractions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Signature matrix built from sc 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S-mode batch correction, 100 permutations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HiRes Imputation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Sample-level cell-type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Window=20, 10 threads per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Differential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limma per cell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Female: pre/peri/post menopause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Male comparison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Subcutaneous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714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Visceral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587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74552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Pipeline ran on GTEx v10 adipose tissue. HiRes resolves bulk RNA-seq into cell-type-specific expression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Subcutaneous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9,697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11,558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9,464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9,531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8,249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6,514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6,804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2,383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4,604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Adipocyte shows asymmetric DOWN (142 vs 79 UP), suggesting cell-intrinsic downregulation after menopause. ASPC and T cell show strong UP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Visceral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11,337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9,726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12,361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10,761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10,100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3,712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3,581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2,911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4,505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Endothelial becomes the top DE cell type in visceral. Macrophage consistent across depots. Mast cell shows striking DOWN-only pattern (3 up, 26 down).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Adipocyte: Post vs Pre Menopause (HiRes-Resolved)</a:t>
            </a:r>
          </a:p>
        </p:txBody>
      </p:sp>
      <p:pic>
        <p:nvPicPr>
          <p:cNvPr id="3" name="Picture 2" descr="Volcano_subcutaneous_adipocyt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adipocyt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Macrophage: Post vs Pre Menopause (HiRes-Resolved)</a:t>
            </a:r>
          </a:p>
        </p:txBody>
      </p:sp>
      <p:pic>
        <p:nvPicPr>
          <p:cNvPr id="3" name="Picture 2" descr="Volcano_subcutaneous_macrophag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macrophag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ASPC &amp; Endothelial: Post vs Pre (Subcutaneous, HiRes)</a:t>
            </a:r>
          </a:p>
        </p:txBody>
      </p:sp>
      <p:pic>
        <p:nvPicPr>
          <p:cNvPr id="3" name="Picture 2" descr="Volcano_subcutaneous_aspc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subcutaneous_endothelial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ASPC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Endothelial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Cell-Type-Specific Expression of Key Genes (Subcutaneous)</a:t>
            </a:r>
          </a:p>
        </p:txBody>
      </p:sp>
      <p:pic>
        <p:nvPicPr>
          <p:cNvPr id="3" name="Picture 2" descr="BoxViolin_subcutaneous_adipocyte_LEP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474720" cy="2468880"/>
          </a:xfrm>
          <a:prstGeom prst="rect">
            <a:avLst/>
          </a:prstGeom>
        </p:spPr>
      </p:pic>
      <p:pic>
        <p:nvPicPr>
          <p:cNvPr id="4" name="Picture 3" descr="BoxViolin_subcutaneous_adipocyte_ADIPOQ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474720" cy="2468880"/>
          </a:xfrm>
          <a:prstGeom prst="rect">
            <a:avLst/>
          </a:prstGeom>
        </p:spPr>
      </p:pic>
      <p:pic>
        <p:nvPicPr>
          <p:cNvPr id="5" name="Picture 4" descr="BoxViolin_subcutaneous_macrophage_CD68_meno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474720" cy="2468880"/>
          </a:xfrm>
          <a:prstGeom prst="rect">
            <a:avLst/>
          </a:prstGeom>
        </p:spPr>
      </p:pic>
      <p:pic>
        <p:nvPicPr>
          <p:cNvPr id="6" name="Picture 5" descr="BoxViolin_subcutaneous_monocyte_IL6_menopa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57600"/>
            <a:ext cx="3474720" cy="2468880"/>
          </a:xfrm>
          <a:prstGeom prst="rect">
            <a:avLst/>
          </a:prstGeom>
        </p:spPr>
      </p:pic>
      <p:pic>
        <p:nvPicPr>
          <p:cNvPr id="7" name="Picture 6" descr="BoxViolin_subcutaneous_adipocyte_ESR1_meno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657600"/>
            <a:ext cx="3474720" cy="2468880"/>
          </a:xfrm>
          <a:prstGeom prst="rect">
            <a:avLst/>
          </a:prstGeom>
        </p:spPr>
      </p:pic>
      <p:pic>
        <p:nvPicPr>
          <p:cNvPr id="8" name="Picture 7" descr="BoxViolin_subcutaneous_smc_ESR1_meno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657600"/>
            <a:ext cx="3474720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1031" y="1828800"/>
            <a:ext cx="76669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Follow-up on Kenichi’s </a:t>
            </a:r>
            <a:br>
              <a:rPr lang="en-US" sz="4000" b="1" dirty="0">
                <a:solidFill>
                  <a:srgbClr val="FFFFFF"/>
                </a:solidFill>
                <a:latin typeface="Calibri"/>
              </a:rPr>
            </a:br>
            <a:r>
              <a:rPr lang="en-US" sz="4000" b="1" dirty="0">
                <a:solidFill>
                  <a:srgbClr val="FFFFFF"/>
                </a:solidFill>
                <a:latin typeface="Calibri"/>
              </a:rPr>
              <a:t>catecholamine results 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(2026-04-21)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127" y="3657600"/>
            <a:ext cx="10112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CCDDEE"/>
                </a:solidFill>
                <a:latin typeface="Calibri"/>
              </a:rPr>
              <a:t>Catecholamine resistance in OVX - age-stratified ADRB2 analyses, sex-specific decline, Saltiel Fig 8-style panels, and cross-species concordance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Recap: your OVX 042126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you showed and why it matters for our human GTEx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1: Adrb3 is DOWN in both pWAT (visceral) and iWAT (subcutaneous); Adrb1 also DOWN in iWAT (visible in figure panels; gene name not in Slide 1 text labels).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 reduction is MORE PRONOUNCED in iWAT.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2: inflammation, fibrosis, senescence markers are UP in OVX pWAT (similar in iWAT, not shown).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Hypothesis: estrogen deficiency -&gt; chronic SNS activity -&gt; catecholamine resistance (reduced beta-AR signaling).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Context: Prog Lipid Res 2009 - in human adipose, ADRB1 AND ADRB2 (not ADRB3) are the primary lipolytic beta-AR subtypes.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Therefore, for the human translational comparison, ADRB1 and ADRB2 are the most physiologically relevant targets.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Your four questions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Q1 - Is ADRB2 - inflammation/fibrosis/senescence negative correlation STRONGER in older women vs younger women?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Q2 - Is ADRB2 reduced in subcutaneous older women, and is the reduction more pronounced in women than 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Q3 - Reproduce Saltiel Fig 8-style scatter: ADRB2 vs age, CCL2, fibrosis, senescence in women.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Q4 - Suggest best visualization.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ADRB2 correlations in females - 20-49 vs 50-79 (forest plot)</a:t>
            </a:r>
          </a:p>
        </p:txBody>
      </p:sp>
      <p:pic>
        <p:nvPicPr>
          <p:cNvPr id="3" name="Picture 2" descr="adrb2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8621485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Points = Pearson r, bars = 95% CI (Fisher-z). Dashed line at r=0. Fisher-z tests for young vs older female correlation magnitudes are all non-significant at a=0.05 (min p=0.062 for visceral TGFb/ALK7 axis, where older females show a STRONGER POSITIVE correlation - opposite direction to catecholamine-resistance hypothesis).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Fisher-z comparison (older vs younger females) - top gene 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05156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Delta 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Fisher 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Older more -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+0.595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+0.574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-0.035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+0.320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+0.127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-0.364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5760720"/>
            <a:ext cx="11612880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Net result: no formal evidence that the ADRB2-inflammation/fibrosis negative correlation is STRONGER in older women vs younger women. In subcutaneous, fibrosis shows slight strengthening with age (Delta r = -0.05, NS); CCL2 shows the opposite (Delta r = +0.16,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Beta-AR expression by age and sex (both depots)</a:t>
            </a:r>
          </a:p>
        </p:txBody>
      </p:sp>
      <p:pic>
        <p:nvPicPr>
          <p:cNvPr id="3" name="Picture 2" descr="adrb2_age_trend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60120"/>
            <a:ext cx="6096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88720" y="5852160"/>
            <a:ext cx="97840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Mean VST +/- 95% CI per (age bin x sex x depot). All three receptors decline with age in subcutaneous; ADRB3 declines in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Sex x age interaction - is female decline larger than male?</a:t>
            </a:r>
          </a:p>
        </p:txBody>
      </p:sp>
      <p:pic>
        <p:nvPicPr>
          <p:cNvPr id="3" name="Picture 2" descr="adrb2_sex_age_interaction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400800" cy="3200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097280"/>
          <a:ext cx="47548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Rcpt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Slope/yr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0.00805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0.0598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0.000624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-0.0084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-0.0134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-0.0173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7.5e-09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-0.0189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2.2e-05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0.246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+0.0048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-0.0016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0.00276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0.00799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15000"/>
            <a:ext cx="11274552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subcutaneous: male slope = -0.0103 (p=0.002), female slope = -0.0084 (p=0.064, borderline within-female); pooled sex*age interaction p = 0.94 - NO significant sex difference in ADRB2 decline. ADRB3 visceral: female -0.0208 vs male -0.0109, interaction p = 0.19 (directionally matches OVX pWAT but 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 Fig 8-style panel - FEMALE, subcutaneous (primary)</a:t>
            </a:r>
          </a:p>
        </p:txBody>
      </p:sp>
      <p:pic>
        <p:nvPicPr>
          <p:cNvPr id="3" name="Picture 2" descr="saltiel_adrb2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vs fibrosis: R^2 = 0.17, p = 3.3e-11 (strongest panel). ADRB2 vs CCL2: R^2 = 0.09, p = 3.0e-6. ADRB2 vs senescence: R^2 = 0.076, p = 2.0e-5. ADRB2 vs age: R^2 = 0.021, p = 0.029 (weak but significant).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FEMALE, visceral (supplementary)</a:t>
            </a:r>
          </a:p>
        </p:txBody>
      </p:sp>
      <p:pic>
        <p:nvPicPr>
          <p:cNvPr id="3" name="Picture 2" descr="saltiel_adrb2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Female visceral: weaker ADRB2 relationships overall. Only fibrosis reaches significance (R^2 = 0.04, p = 7.6e-3). Depot-specific attenuation consistent with 2026-04-12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subcutaneous (sex-comparison)</a:t>
            </a:r>
          </a:p>
        </p:txBody>
      </p:sp>
      <p:pic>
        <p:nvPicPr>
          <p:cNvPr id="3" name="Picture 2" descr="saltiel_adrb2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subcutaneous (n=481) shows the same directional relationships as females, with higher power. ADRB2 vs fibrosis: R^2 = 0.21, p = 4.5e-26. Demonstrates that the ADRB2 axis is NOT female-specific - robust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visceral (sex-comparison)</a:t>
            </a:r>
          </a:p>
        </p:txBody>
      </p:sp>
      <p:pic>
        <p:nvPicPr>
          <p:cNvPr id="3" name="Picture 2" descr="saltiel_adrb2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68580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visceral: fibrosis relationship holds (R^2 = 0.04, p = 5.0e-5). CCL2 shows a weak POSITIVE relationship (R^2 = 0.014, p = 0.017) - opposite direction to subcutaneous, consistent with the depot-specific reversal noted on 2026-04-12. Age and senescence are not significant.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regression stats - all panels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4183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 (y)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 vs ADRB2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-2.107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0.0288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3.0e-06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3.3e-11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2.0e-05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0.568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0.00762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-1.918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8.6e-11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4.5e-26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1.7e-13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-0.709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+0.256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-0.095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5.0e-05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Strongest effects: ADRB2 vs fibrosis in MALE subcutaneous (R^2=0.21) and FEMALE subcutaneous (R^2=0.17). Visceral relationships consistently weaker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Cross-species concordance: OVX 042126 vs human GTEx</a:t>
            </a:r>
          </a:p>
        </p:txBody>
      </p:sp>
      <p:pic>
        <p:nvPicPr>
          <p:cNvPr id="3" name="Picture 2" descr="concordance_heatmap_with_ovx_042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6675120" cy="5191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760720"/>
            <a:ext cx="11274552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Concordant (human p&lt;0.05): ADRB3 DOWN in both pWAT/iWAT (both species); Senescence UP in pWAT/visceral. Concordant (human NS): ADRB1 iWAT (direction match, p=0.228). Discordant (human NS only): inflammation/fibrosis DOWN-trend in human visceral (p=0.13, p=0.69) vs UP in OVX pWAT. Indeterminate (OVX iWAT not shown): inflammation/fibrosis/senescence iWAT/subq; ADRB1 pWAT; ADRB2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Concordance table - OVX 042126 observations vs human GTEx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Mouse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OVX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stat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Concordance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p=0.00276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CONCORDANT (NS)</a:t>
                      </a:r>
                    </a:p>
                  </a:txBody>
                  <a:tcPr marL="45720" marR="45720" marT="18288" marB="18288" anchor="ctr">
                    <a:solidFill>
                      <a:srgbClr val="D9F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shown / unchanged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p=0.304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p=0.687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p=0.255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p=0.00523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p=0.00077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Interpretation and manuscript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we can conclude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ADRB3 declines with age in both depots in women AND men (p&lt;0.05 in both sexes; CONCORDANT with OVX). Not female-specific.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OVX 'iWAT&gt;pWAT' asymmetry reproduces in HUMAN MALES (ADRB3 subq -0.017 vs visc -0.011) but REVERSES in FEMALES (subq -0.013 vs visc -0.021).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declines with age in subcutaneous (males p=0.002; females p=0.064, borderline NS); pooled sex*age interaction NS (p=0.94). Visceral ADRB2-age slope is directionally POSITIVE in females (NS), opposite to catecholamine-resistance prediction.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x fibrosis correlation robust in subcutaneous (female R^2=0.17; male R^2=0.21). Weak in visceral.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Prog Lipid Res 2009: ADRB1 and ADRB2 (not ADRB3) are the primary lipolytic beta-ARs in human adipose - the translational analog of OVX Adrb3 in humans is ADRB1 + ADRB2 combined.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Visceral inflammation/fibrosis 'discordance' is direction-only (both human p&gt;0.13); should NOT be framed as genuine cross-species divergence.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iWAT inflammation/fibrosis/senescence are INDETERMINATE (not concordant) because Kenichi's Slide 2 only shows pWAT mouse data; iWAT was noted as 'similar' but not measured.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389120"/>
            <a:ext cx="112745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Visualization recommendations (Q4)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PRIMARY figure for manuscript: female subcutaneous Saltiel-style panel (R^2 up to 0.17).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COMPANION: male subcutaneous Saltiel-style panel to show sex-agnostic robustness.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RECEPTOR-DECLINE figure: beta-AR age trend by sex (Q2 figure).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CONCORDANCE figure: heatmap for discussion section.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Depot-comparison figure (from 2026-04-12): retain to document visceral/subcutaneous divergence.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Caveats and 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Caveats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GTEx age is binned (10-yr increments); using bin midpoints attenuates absolute slope estimates (p-values remain valid).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Female sample sizes in narrow age windows are modest (e.g., subq 40-49: n=43; 50-59: n=76; visc peri 40-49/50-59: n=36/n=54).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Baseline GTEx does not capture acute hormonal withdrawal - steady-state may differ from acute OVX.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CIBERSORTx HiRes (14 cell types) from 2026-04-12 not yet applied to ADRB2 correlations - next step.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OVX 042126 does not show ADRB2 - adding it would complete the translational bridge.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0"/>
            <a:ext cx="11274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Proposed 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Finalize figures with Female SubQ Saltiel-style as primary.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Cell-type-resolved ADRB2 analysis using CIBERSORTx HiRes (adipocyte-specific expression).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Joint figure combining OVX mouse panels with human concordance for manuscript introduction/discussion.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Add mouse ADRB2 if available to resolve Indeterminate rows in concordance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v4.5.4  | 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HALLMARK vs cytokine inflammation: which measure is used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/>
              <a:t>Why we have two inflammation measures</a:t>
            </a:r>
          </a:p>
          <a:p>
            <a:pPr>
              <a:spcAft>
                <a:spcPts val="600"/>
              </a:spcAft>
            </a:pPr>
            <a:r>
              <a:rPr sz="1200" b="0"/>
              <a:t>•   Kenichi cytokine score (per-gene z-score, then row-mean across a curated list of canonical pro-inflammatory cytokines: IL6, IL1B, TNF, CCL2, CXCL8, etc.)</a:t>
            </a:r>
          </a:p>
          <a:p>
            <a:pPr>
              <a:spcAft>
                <a:spcPts val="600"/>
              </a:spcAft>
            </a:pPr>
            <a:r>
              <a:rPr sz="1200" b="0"/>
              <a:t>•   HALLMARK_INFLAMMATORY_RESPONSE (200-gene MSigDB hallmark gene set; broader inflammation transcriptional signature including NF-kB targets, complement, leukocyte chemotaxis, etc.)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1"/>
              <a:t>When each is used in this deck</a:t>
            </a:r>
          </a:p>
          <a:p>
            <a:pPr>
              <a:spcAft>
                <a:spcPts val="600"/>
              </a:spcAft>
            </a:pPr>
            <a:r>
              <a:rPr sz="1200" b="0"/>
              <a:t>•   Slide 3 (depot inflammation): BOTH are reported (subq cytokines p=0.14 trend UP; subq HALLMARK p=0.044 sig UP). Cytokine score is the headline because it is directly comparable to Kenichi mouse panel.</a:t>
            </a:r>
          </a:p>
          <a:p>
            <a:pPr>
              <a:spcAft>
                <a:spcPts val="600"/>
              </a:spcAft>
            </a:pPr>
            <a:r>
              <a:rPr sz="1200" b="0"/>
              <a:t>•   Slides 27 / 28 / 30 (forest plots, ADRB2 and ADRB3): both rows shown.</a:t>
            </a:r>
          </a:p>
          <a:p>
            <a:pPr>
              <a:spcAft>
                <a:spcPts val="600"/>
              </a:spcAft>
            </a:pPr>
            <a:r>
              <a:rPr sz="1200" b="0"/>
              <a:t>•   Slide 45 (concordance with OVX 042126): cytokine score is the comparator (subq human p=0.138, NS). If HALLMARK had been used (subq p=0.044, sig), the iWAT inflammation row would shift from INDETERMINATE to CONCORDANT.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/>
              <a:t>Recommendation for the manuscript: report both, lead with the cytokine score for cross-species comparability (Kenichi mouse panel uses cytokine markers), present HALLMARK as a sensitivity 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ADRB3 correlation deep dive (females, both depots)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6 (ADRB2). Left: vs gene-set scores; Right: vs CIBERSORT fractions.</a:t>
            </a:r>
          </a:p>
        </p:txBody>
      </p:sp>
      <p:pic>
        <p:nvPicPr>
          <p:cNvPr id="3" name="Picture 2" descr="adrb3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08676" cy="7572146"/>
          </a:xfrm>
          <a:prstGeom prst="rect">
            <a:avLst/>
          </a:prstGeom>
        </p:spPr>
      </p:pic>
      <p:pic>
        <p:nvPicPr>
          <p:cNvPr id="4" name="Picture 3" descr="adrb3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188720"/>
            <a:ext cx="5408676" cy="5900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above panels: * p&lt;0.05, ** p&lt;0.01, *** p&lt;0.001.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mirror: ADRB3 correlations in females (20-49 vs 50-79)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Forest plot mirroring Slide 27 (ADRB2). 50s INCLUDED in older group.</a:t>
            </a:r>
          </a:p>
        </p:txBody>
      </p:sp>
      <p:pic>
        <p:nvPicPr>
          <p:cNvPr id="3" name="Picture 2" descr="adrb3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7174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indicate within-group correlation significance (* p&lt;0.05, ** p&lt;0.01, *** p&lt;0.001). Compare against Slide 27 (ADRB2) for receptor-axis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28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50s-included vs 50s-excluded older group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Older group definition changes: 50-79 (incl) vs 60-79 (excl). Females, both receptors, both depots.</a:t>
            </a:r>
          </a:p>
        </p:txBody>
      </p:sp>
      <p:pic>
        <p:nvPicPr>
          <p:cNvPr id="3" name="Picture 2" descr="sensitivity_50s_exclud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7516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Headline: excluding the 50s STRENGTHENS the ADRB2-fibrosis correlation in older subq women (-0.43 -&gt; -0.48). For ADRB3, the apparent broad correlation (-0.17) DISAPPEARS when the 50s are removed (-0.06), implying the ADRB3-fibrosis association is concentrated in the peri-menopausal 50s.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29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mirror: Fisher-z young-vs-older for ADRB3 (3 stratifications)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Three stratifications compared (females only)</a:t>
            </a:r>
          </a:p>
          <a:p>
            <a:pPr>
              <a:spcAft>
                <a:spcPts val="600"/>
              </a:spcAft>
            </a:pPr>
            <a:r>
              <a:rPr sz="1200" b="0"/>
              <a:t>•   broad_young_vs_older = 20-49 vs 50-79 (50s in older) — original Slide 28 cutoff</a:t>
            </a:r>
          </a:p>
          <a:p>
            <a:pPr>
              <a:spcAft>
                <a:spcPts val="600"/>
              </a:spcAft>
            </a:pPr>
            <a:r>
              <a:rPr sz="1200" b="0"/>
              <a:t>•   peri_menopause_window = 40-49 vs 50-59 — narrow peri window</a:t>
            </a:r>
          </a:p>
          <a:p>
            <a:pPr>
              <a:spcAft>
                <a:spcPts val="600"/>
              </a:spcAft>
            </a:pPr>
            <a:r>
              <a:rPr sz="1200" b="0"/>
              <a:t>•   broad_50s_excluded = 20-49 vs 60-79 (50s dropped) — sensitivity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ADRB3 fibrosis (subcutaneous, females)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r_young=-0.106 (n=78), r_older=-0.175 (n=155), delta=-0.069</a:t>
            </a:r>
          </a:p>
          <a:p>
            <a:pPr>
              <a:spcAft>
                <a:spcPts val="600"/>
              </a:spcAft>
            </a:pPr>
            <a:r>
              <a:rPr sz="1200" b="0"/>
              <a:t>•   peri 40-49 vs 50-59: r_young=-0.016 (n=43), r_older=-0.357 (n=76), delta=-0.342  **</a:t>
            </a:r>
          </a:p>
          <a:p>
            <a:pPr>
              <a:spcAft>
                <a:spcPts val="600"/>
              </a:spcAft>
            </a:pPr>
            <a:r>
              <a:rPr sz="1200" b="0"/>
              <a:t>•   broad-50s-excluded: r_young=-0.106 (n=78), r_older=-0.059 (n=79), delta=+0.047 (NS)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fibrosis (subcutaneous, females) — for comparison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r_older=-0.43 (n=155); peri 50-59: r=-0.37 (n=76); broad-excl-50s: r=-0.48 (n=79)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Interpretation</a:t>
            </a:r>
          </a:p>
          <a:p>
            <a:pPr>
              <a:spcAft>
                <a:spcPts val="600"/>
              </a:spcAft>
            </a:pPr>
            <a:r>
              <a:rPr sz="1200" b="0"/>
              <a:t>•   ADRB2 effect on fibrosis is robust across age slices and STRENGTHENS once 50s are removed.</a:t>
            </a:r>
          </a:p>
          <a:p>
            <a:pPr>
              <a:spcAft>
                <a:spcPts val="600"/>
              </a:spcAft>
            </a:pPr>
            <a:r>
              <a:rPr sz="1200" b="0"/>
              <a:t>•   ADRB3 effect on fibrosis is concentrated in the 50s (peri window r=-0.357), not in 60-79.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tables/next_steps_2026-05-03_v4.5.4/adrb3_age_correlation_young_vs_older_fisherz.tsv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31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FEMALE, subcutaneous (n=233)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33 (ADRB2). Headline: ADRB3 vs senescence R²=0.094 *** beats ADRB2 R²=0.076. ADRB3 vs fibrosis R²=0.026 (much weaker than ADRB2 R²=0.174).</a:t>
            </a:r>
          </a:p>
        </p:txBody>
      </p:sp>
      <p:pic>
        <p:nvPicPr>
          <p:cNvPr id="3" name="Picture 2" descr="saltiel_adrb3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FEMALE, visceral (n=180)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34 (ADRB2).</a:t>
            </a:r>
          </a:p>
        </p:txBody>
      </p:sp>
      <p:pic>
        <p:nvPicPr>
          <p:cNvPr id="3" name="Picture 2" descr="saltiel_adrb3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MALE, subcutaneous (n=481)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35 (ADRB2). Sex-comparison companion.</a:t>
            </a:r>
          </a:p>
        </p:txBody>
      </p:sp>
      <p:pic>
        <p:nvPicPr>
          <p:cNvPr id="3" name="Picture 2" descr="saltiel_adrb3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— ADRB3 — MALE, visceral (n=407)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Mirror of Slide 36 (ADRB2).</a:t>
            </a:r>
          </a:p>
        </p:txBody>
      </p:sp>
      <p:pic>
        <p:nvPicPr>
          <p:cNvPr id="3" name="Picture 2" descr="saltiel_adrb3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9019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Asterisks in panel titles: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mirror: Saltiel-style regression stats — ADRB3 (16-row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Strongest ADRB3 effects (mirror of Slide 37 / 38 for ADRB2)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senescence:  R²=0.093, p=2e-6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age:         R²=0.047, p=8e-4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CCL2:        R²=0.027, p=0.012 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fibrosis:    R²=0.026, p=0.014 * (weaker than ADRB2 R²=0.174)</a:t>
            </a:r>
          </a:p>
          <a:p>
            <a:pPr>
              <a:spcAft>
                <a:spcPts val="600"/>
              </a:spcAft>
            </a:pPr>
            <a:r>
              <a:rPr sz="1200" b="0"/>
              <a:t>•   MALE subq, ADRB3 vs senescence and CCL2: significant, generally weaker than ADRB2 panel</a:t>
            </a:r>
          </a:p>
          <a:p>
            <a:pPr>
              <a:spcAft>
                <a:spcPts val="600"/>
              </a:spcAft>
            </a:pPr>
            <a:r>
              <a:rPr sz="1200" b="0"/>
              <a:t>•   Visceral panels (both sexes): mostly weak / 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vs ADRB3 head-to-head (FEMALE subq, R²)</a:t>
            </a:r>
          </a:p>
          <a:p>
            <a:pPr>
              <a:spcAft>
                <a:spcPts val="600"/>
              </a:spcAft>
            </a:pPr>
            <a:r>
              <a:rPr sz="1200" b="0"/>
              <a:t>•   Fibrosis:    ADRB2 0.174  vs  ADRB3 0.026   — ADRB2 dominant</a:t>
            </a:r>
          </a:p>
          <a:p>
            <a:pPr>
              <a:spcAft>
                <a:spcPts val="600"/>
              </a:spcAft>
            </a:pPr>
            <a:r>
              <a:rPr sz="1200" b="0"/>
              <a:t>•   Senescence:  ADRB2 0.076  vs  ADRB3 0.093   — ADRB3 slightly stronger</a:t>
            </a:r>
          </a:p>
          <a:p>
            <a:pPr>
              <a:spcAft>
                <a:spcPts val="600"/>
              </a:spcAft>
            </a:pPr>
            <a:r>
              <a:rPr sz="1200" b="0"/>
              <a:t>•   Age:         ADRB2 0.021  vs  ADRB3 0.047   — ADRB3 stronger</a:t>
            </a:r>
          </a:p>
          <a:p>
            <a:pPr>
              <a:spcAft>
                <a:spcPts val="600"/>
              </a:spcAft>
            </a:pPr>
            <a:r>
              <a:rPr sz="1200" b="0"/>
              <a:t>•   CCL2:        ADRB2 0.090  vs  ADRB3 0.027   — ADRB2 dominant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1"/>
              <a:t>Bottom line: ADRB3 is more strongly age- and senescence-associated; ADRB2 is more strongly fibrosis- and inflammation-associated. Both decline with age; the receptors carry different downstream-correlation profiles.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tables/next_steps_2026-05-03_v4.5.4/saltiel_style_regression_stats_adrb3.tsv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Menopause signature score stratification — score distributions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Two signatures: senMayoLike v2 (signed, x-axis) and curated (unsigned magnitude, y-axis). Females only. Color = age-bin menopause group.</a:t>
            </a:r>
          </a:p>
        </p:txBody>
      </p:sp>
      <p:pic>
        <p:nvPicPr>
          <p:cNvPr id="3" name="Picture 2" descr="menopause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5637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Dashed lines = tertile cutoffs per signature. Concordance with age-bin grouping is partial: pre/peri/post overlap substantially in score space, supporting the use of score-based stratification as a complementary approach. See tables/next_steps_2026-05-03_v4.5.4/score_tertile_vs_age_bin_concordance.tsv.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ADRB2 correlations stratified by menopause score tertile (senMayoLike v2)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Females. T1 = lowest score third (more 'pre-like'); T3 = highest third (more 'post-like'). Compare with the age-bin-based result on Slide 27.</a:t>
            </a:r>
          </a:p>
        </p:txBody>
      </p:sp>
      <p:pic>
        <p:nvPicPr>
          <p:cNvPr id="3" name="Picture 2" descr="score_tertile_correlations_adrb2_senm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6149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Curated-signature counterpart in score_tertile_correlations_adrb2_curated.png; raw stats in score_tertile_correlations_both_receptors.tsv. Asterisks: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ADRB3 correlations stratified by menopause score tertile (senMayoLike v2)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Females. T1 = lowest score third (more 'pre-like'); T3 = highest third (more 'post-like'). ADRB3 mirror of preceding ADRB2 slide.</a:t>
            </a:r>
          </a:p>
        </p:txBody>
      </p:sp>
      <p:pic>
        <p:nvPicPr>
          <p:cNvPr id="3" name="Picture 2" descr="score_tertile_correlations_adrb3_senm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4552" cy="6149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44444"/>
                </a:solidFill>
              </a:rPr>
              <a:t>Curated-signature counterpart in score_tertile_correlations_adrb3_curated.png; raw stats in score_tertile_correlations_both_receptors.tsv. Asterisks: * p&lt;0.05, ** p&lt;0.01, *** p&lt;0.001.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v4.5.4  | 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0ca090-da8c-4360-a3bc-148c3bd51ef5}" enabled="1" method="Standard" siteId="{ec37a091-b9a6-47e5-98d0-903d4a4192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4112</Words>
  <Application>Microsoft Office PowerPoint</Application>
  <PresentationFormat>Custom</PresentationFormat>
  <Paragraphs>1005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12</cp:revision>
  <dcterms:created xsi:type="dcterms:W3CDTF">2026-02-02T05:20:11Z</dcterms:created>
  <dcterms:modified xsi:type="dcterms:W3CDTF">2026-04-23T20:08:24Z</dcterms:modified>
</cp:coreProperties>
</file>